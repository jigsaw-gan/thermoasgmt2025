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88825" cy="6551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84" y="828"/>
      </p:cViewPr>
      <p:guideLst>
        <p:guide orient="horz" pos="2064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072220"/>
            <a:ext cx="9141619" cy="2280932"/>
          </a:xfrm>
        </p:spPr>
        <p:txBody>
          <a:bodyPr anchor="b"/>
          <a:lstStyle>
            <a:lvl1pPr algn="ctr">
              <a:defRPr sz="57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441114"/>
            <a:ext cx="9141619" cy="1581789"/>
          </a:xfrm>
        </p:spPr>
        <p:txBody>
          <a:bodyPr/>
          <a:lstStyle>
            <a:lvl1pPr marL="0" indent="0" algn="ctr">
              <a:buNone/>
              <a:defRPr sz="2293"/>
            </a:lvl1pPr>
            <a:lvl2pPr marL="436763" indent="0" algn="ctr">
              <a:buNone/>
              <a:defRPr sz="1911"/>
            </a:lvl2pPr>
            <a:lvl3pPr marL="873526" indent="0" algn="ctr">
              <a:buNone/>
              <a:defRPr sz="1720"/>
            </a:lvl3pPr>
            <a:lvl4pPr marL="1310289" indent="0" algn="ctr">
              <a:buNone/>
              <a:defRPr sz="1528"/>
            </a:lvl4pPr>
            <a:lvl5pPr marL="1747053" indent="0" algn="ctr">
              <a:buNone/>
              <a:defRPr sz="1528"/>
            </a:lvl5pPr>
            <a:lvl6pPr marL="2183816" indent="0" algn="ctr">
              <a:buNone/>
              <a:defRPr sz="1528"/>
            </a:lvl6pPr>
            <a:lvl7pPr marL="2620579" indent="0" algn="ctr">
              <a:buNone/>
              <a:defRPr sz="1528"/>
            </a:lvl7pPr>
            <a:lvl8pPr marL="3057342" indent="0" algn="ctr">
              <a:buNone/>
              <a:defRPr sz="1528"/>
            </a:lvl8pPr>
            <a:lvl9pPr marL="3494105" indent="0" algn="ctr">
              <a:buNone/>
              <a:defRPr sz="152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0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7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633354"/>
            <a:ext cx="10512862" cy="2725289"/>
          </a:xfrm>
        </p:spPr>
        <p:txBody>
          <a:bodyPr anchor="b"/>
          <a:lstStyle>
            <a:lvl1pPr>
              <a:defRPr sz="57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384425"/>
            <a:ext cx="10512862" cy="1433165"/>
          </a:xfrm>
        </p:spPr>
        <p:txBody>
          <a:bodyPr/>
          <a:lstStyle>
            <a:lvl1pPr marL="0" indent="0">
              <a:buNone/>
              <a:defRPr sz="2293">
                <a:solidFill>
                  <a:schemeClr val="tx1">
                    <a:tint val="82000"/>
                  </a:schemeClr>
                </a:solidFill>
              </a:defRPr>
            </a:lvl1pPr>
            <a:lvl2pPr marL="436763" indent="0">
              <a:buNone/>
              <a:defRPr sz="1911">
                <a:solidFill>
                  <a:schemeClr val="tx1">
                    <a:tint val="82000"/>
                  </a:schemeClr>
                </a:solidFill>
              </a:defRPr>
            </a:lvl2pPr>
            <a:lvl3pPr marL="873526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3pPr>
            <a:lvl4pPr marL="1310289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4pPr>
            <a:lvl5pPr marL="1747053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5pPr>
            <a:lvl6pPr marL="2183816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6pPr>
            <a:lvl7pPr marL="2620579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7pPr>
            <a:lvl8pPr marL="3057342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8pPr>
            <a:lvl9pPr marL="3494105" indent="0">
              <a:buNone/>
              <a:defRPr sz="1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55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744064"/>
            <a:ext cx="5180251" cy="41569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744064"/>
            <a:ext cx="5180251" cy="41569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83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48813"/>
            <a:ext cx="10512862" cy="126634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06056"/>
            <a:ext cx="5156444" cy="787103"/>
          </a:xfrm>
        </p:spPr>
        <p:txBody>
          <a:bodyPr anchor="b"/>
          <a:lstStyle>
            <a:lvl1pPr marL="0" indent="0">
              <a:buNone/>
              <a:defRPr sz="2293" b="1"/>
            </a:lvl1pPr>
            <a:lvl2pPr marL="436763" indent="0">
              <a:buNone/>
              <a:defRPr sz="1911" b="1"/>
            </a:lvl2pPr>
            <a:lvl3pPr marL="873526" indent="0">
              <a:buNone/>
              <a:defRPr sz="1720" b="1"/>
            </a:lvl3pPr>
            <a:lvl4pPr marL="1310289" indent="0">
              <a:buNone/>
              <a:defRPr sz="1528" b="1"/>
            </a:lvl4pPr>
            <a:lvl5pPr marL="1747053" indent="0">
              <a:buNone/>
              <a:defRPr sz="1528" b="1"/>
            </a:lvl5pPr>
            <a:lvl6pPr marL="2183816" indent="0">
              <a:buNone/>
              <a:defRPr sz="1528" b="1"/>
            </a:lvl6pPr>
            <a:lvl7pPr marL="2620579" indent="0">
              <a:buNone/>
              <a:defRPr sz="1528" b="1"/>
            </a:lvl7pPr>
            <a:lvl8pPr marL="3057342" indent="0">
              <a:buNone/>
              <a:defRPr sz="1528" b="1"/>
            </a:lvl8pPr>
            <a:lvl9pPr marL="3494105" indent="0">
              <a:buNone/>
              <a:defRPr sz="15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393159"/>
            <a:ext cx="5156444" cy="35199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06056"/>
            <a:ext cx="5181838" cy="787103"/>
          </a:xfrm>
        </p:spPr>
        <p:txBody>
          <a:bodyPr anchor="b"/>
          <a:lstStyle>
            <a:lvl1pPr marL="0" indent="0">
              <a:buNone/>
              <a:defRPr sz="2293" b="1"/>
            </a:lvl1pPr>
            <a:lvl2pPr marL="436763" indent="0">
              <a:buNone/>
              <a:defRPr sz="1911" b="1"/>
            </a:lvl2pPr>
            <a:lvl3pPr marL="873526" indent="0">
              <a:buNone/>
              <a:defRPr sz="1720" b="1"/>
            </a:lvl3pPr>
            <a:lvl4pPr marL="1310289" indent="0">
              <a:buNone/>
              <a:defRPr sz="1528" b="1"/>
            </a:lvl4pPr>
            <a:lvl5pPr marL="1747053" indent="0">
              <a:buNone/>
              <a:defRPr sz="1528" b="1"/>
            </a:lvl5pPr>
            <a:lvl6pPr marL="2183816" indent="0">
              <a:buNone/>
              <a:defRPr sz="1528" b="1"/>
            </a:lvl6pPr>
            <a:lvl7pPr marL="2620579" indent="0">
              <a:buNone/>
              <a:defRPr sz="1528" b="1"/>
            </a:lvl7pPr>
            <a:lvl8pPr marL="3057342" indent="0">
              <a:buNone/>
              <a:defRPr sz="1528" b="1"/>
            </a:lvl8pPr>
            <a:lvl9pPr marL="3494105" indent="0">
              <a:buNone/>
              <a:defRPr sz="15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393159"/>
            <a:ext cx="5181838" cy="35199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34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07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78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36774"/>
            <a:ext cx="3931213" cy="1528710"/>
          </a:xfrm>
        </p:spPr>
        <p:txBody>
          <a:bodyPr anchor="b"/>
          <a:lstStyle>
            <a:lvl1pPr>
              <a:defRPr sz="30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43311"/>
            <a:ext cx="6170593" cy="4655892"/>
          </a:xfrm>
        </p:spPr>
        <p:txBody>
          <a:bodyPr/>
          <a:lstStyle>
            <a:lvl1pPr>
              <a:defRPr sz="3057"/>
            </a:lvl1pPr>
            <a:lvl2pPr>
              <a:defRPr sz="2675"/>
            </a:lvl2pPr>
            <a:lvl3pPr>
              <a:defRPr sz="2293"/>
            </a:lvl3pPr>
            <a:lvl4pPr>
              <a:defRPr sz="1911"/>
            </a:lvl4pPr>
            <a:lvl5pPr>
              <a:defRPr sz="1911"/>
            </a:lvl5pPr>
            <a:lvl6pPr>
              <a:defRPr sz="1911"/>
            </a:lvl6pPr>
            <a:lvl7pPr>
              <a:defRPr sz="1911"/>
            </a:lvl7pPr>
            <a:lvl8pPr>
              <a:defRPr sz="1911"/>
            </a:lvl8pPr>
            <a:lvl9pPr>
              <a:defRPr sz="191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965484"/>
            <a:ext cx="3931213" cy="3641302"/>
          </a:xfrm>
        </p:spPr>
        <p:txBody>
          <a:bodyPr/>
          <a:lstStyle>
            <a:lvl1pPr marL="0" indent="0">
              <a:buNone/>
              <a:defRPr sz="1528"/>
            </a:lvl1pPr>
            <a:lvl2pPr marL="436763" indent="0">
              <a:buNone/>
              <a:defRPr sz="1337"/>
            </a:lvl2pPr>
            <a:lvl3pPr marL="873526" indent="0">
              <a:buNone/>
              <a:defRPr sz="1146"/>
            </a:lvl3pPr>
            <a:lvl4pPr marL="1310289" indent="0">
              <a:buNone/>
              <a:defRPr sz="955"/>
            </a:lvl4pPr>
            <a:lvl5pPr marL="1747053" indent="0">
              <a:buNone/>
              <a:defRPr sz="955"/>
            </a:lvl5pPr>
            <a:lvl6pPr marL="2183816" indent="0">
              <a:buNone/>
              <a:defRPr sz="955"/>
            </a:lvl6pPr>
            <a:lvl7pPr marL="2620579" indent="0">
              <a:buNone/>
              <a:defRPr sz="955"/>
            </a:lvl7pPr>
            <a:lvl8pPr marL="3057342" indent="0">
              <a:buNone/>
              <a:defRPr sz="955"/>
            </a:lvl8pPr>
            <a:lvl9pPr marL="3494105" indent="0">
              <a:buNone/>
              <a:defRPr sz="95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4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36774"/>
            <a:ext cx="3931213" cy="1528710"/>
          </a:xfrm>
        </p:spPr>
        <p:txBody>
          <a:bodyPr anchor="b"/>
          <a:lstStyle>
            <a:lvl1pPr>
              <a:defRPr sz="30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43311"/>
            <a:ext cx="6170593" cy="4655892"/>
          </a:xfrm>
        </p:spPr>
        <p:txBody>
          <a:bodyPr anchor="t"/>
          <a:lstStyle>
            <a:lvl1pPr marL="0" indent="0">
              <a:buNone/>
              <a:defRPr sz="3057"/>
            </a:lvl1pPr>
            <a:lvl2pPr marL="436763" indent="0">
              <a:buNone/>
              <a:defRPr sz="2675"/>
            </a:lvl2pPr>
            <a:lvl3pPr marL="873526" indent="0">
              <a:buNone/>
              <a:defRPr sz="2293"/>
            </a:lvl3pPr>
            <a:lvl4pPr marL="1310289" indent="0">
              <a:buNone/>
              <a:defRPr sz="1911"/>
            </a:lvl4pPr>
            <a:lvl5pPr marL="1747053" indent="0">
              <a:buNone/>
              <a:defRPr sz="1911"/>
            </a:lvl5pPr>
            <a:lvl6pPr marL="2183816" indent="0">
              <a:buNone/>
              <a:defRPr sz="1911"/>
            </a:lvl6pPr>
            <a:lvl7pPr marL="2620579" indent="0">
              <a:buNone/>
              <a:defRPr sz="1911"/>
            </a:lvl7pPr>
            <a:lvl8pPr marL="3057342" indent="0">
              <a:buNone/>
              <a:defRPr sz="1911"/>
            </a:lvl8pPr>
            <a:lvl9pPr marL="3494105" indent="0">
              <a:buNone/>
              <a:defRPr sz="191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965484"/>
            <a:ext cx="3931213" cy="3641302"/>
          </a:xfrm>
        </p:spPr>
        <p:txBody>
          <a:bodyPr/>
          <a:lstStyle>
            <a:lvl1pPr marL="0" indent="0">
              <a:buNone/>
              <a:defRPr sz="1528"/>
            </a:lvl1pPr>
            <a:lvl2pPr marL="436763" indent="0">
              <a:buNone/>
              <a:defRPr sz="1337"/>
            </a:lvl2pPr>
            <a:lvl3pPr marL="873526" indent="0">
              <a:buNone/>
              <a:defRPr sz="1146"/>
            </a:lvl3pPr>
            <a:lvl4pPr marL="1310289" indent="0">
              <a:buNone/>
              <a:defRPr sz="955"/>
            </a:lvl4pPr>
            <a:lvl5pPr marL="1747053" indent="0">
              <a:buNone/>
              <a:defRPr sz="955"/>
            </a:lvl5pPr>
            <a:lvl6pPr marL="2183816" indent="0">
              <a:buNone/>
              <a:defRPr sz="955"/>
            </a:lvl6pPr>
            <a:lvl7pPr marL="2620579" indent="0">
              <a:buNone/>
              <a:defRPr sz="955"/>
            </a:lvl7pPr>
            <a:lvl8pPr marL="3057342" indent="0">
              <a:buNone/>
              <a:defRPr sz="955"/>
            </a:lvl8pPr>
            <a:lvl9pPr marL="3494105" indent="0">
              <a:buNone/>
              <a:defRPr sz="95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73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8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48813"/>
            <a:ext cx="2628215" cy="555218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48813"/>
            <a:ext cx="7732286" cy="55521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96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48813"/>
            <a:ext cx="10512862" cy="1266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744064"/>
            <a:ext cx="10512862" cy="4156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072375"/>
            <a:ext cx="2742486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D29FA-6B89-480E-BA3F-453C8EF00C2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072375"/>
            <a:ext cx="4113728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072375"/>
            <a:ext cx="2742486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FEF18-B83D-407C-9D2C-20309A913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8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73526" rtl="0" eaLnBrk="1" latinLnBrk="0" hangingPunct="1">
        <a:lnSpc>
          <a:spcPct val="90000"/>
        </a:lnSpc>
        <a:spcBef>
          <a:spcPct val="0"/>
        </a:spcBef>
        <a:buNone/>
        <a:defRPr sz="4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82" indent="-218382" algn="l" defTabSz="873526" rtl="0" eaLnBrk="1" latinLnBrk="0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5" kern="1200">
          <a:solidFill>
            <a:schemeClr val="tx1"/>
          </a:solidFill>
          <a:latin typeface="+mn-lt"/>
          <a:ea typeface="+mn-ea"/>
          <a:cs typeface="+mn-cs"/>
        </a:defRPr>
      </a:lvl1pPr>
      <a:lvl2pPr marL="655145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3" kern="1200">
          <a:solidFill>
            <a:schemeClr val="tx1"/>
          </a:solidFill>
          <a:latin typeface="+mn-lt"/>
          <a:ea typeface="+mn-ea"/>
          <a:cs typeface="+mn-cs"/>
        </a:defRPr>
      </a:lvl2pPr>
      <a:lvl3pPr marL="1091908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3pPr>
      <a:lvl4pPr marL="1528671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4pPr>
      <a:lvl5pPr marL="1965434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5pPr>
      <a:lvl6pPr marL="2402197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6pPr>
      <a:lvl7pPr marL="2838961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7pPr>
      <a:lvl8pPr marL="3275724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8pPr>
      <a:lvl9pPr marL="3712487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1pPr>
      <a:lvl2pPr marL="436763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73526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3pPr>
      <a:lvl4pPr marL="1310289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4pPr>
      <a:lvl5pPr marL="1747053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5pPr>
      <a:lvl6pPr marL="2183816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6pPr>
      <a:lvl7pPr marL="2620579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7pPr>
      <a:lvl8pPr marL="3057342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8pPr>
      <a:lvl9pPr marL="3494105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FD116D61-F61C-D285-DD6C-8C5DB2E9CE99}"/>
              </a:ext>
            </a:extLst>
          </p:cNvPr>
          <p:cNvGrpSpPr/>
          <p:nvPr/>
        </p:nvGrpSpPr>
        <p:grpSpPr>
          <a:xfrm>
            <a:off x="8710" y="857"/>
            <a:ext cx="12171405" cy="6549898"/>
            <a:chOff x="0" y="327352"/>
            <a:chExt cx="12171405" cy="654989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05AA856-F4B9-8E98-5DDC-71758DC34F4B}"/>
                </a:ext>
              </a:extLst>
            </p:cNvPr>
            <p:cNvSpPr/>
            <p:nvPr/>
          </p:nvSpPr>
          <p:spPr>
            <a:xfrm>
              <a:off x="4102662" y="481476"/>
              <a:ext cx="4394357" cy="5870772"/>
            </a:xfrm>
            <a:prstGeom prst="rect">
              <a:avLst/>
            </a:prstGeom>
            <a:noFill/>
            <a:ln w="698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0" b="1" dirty="0">
                  <a:solidFill>
                    <a:schemeClr val="tx1"/>
                  </a:solidFill>
                  <a:latin typeface="Ysabeau" pitchFamily="50" charset="0"/>
                  <a:ea typeface="Ysabeau" pitchFamily="50" charset="0"/>
                  <a:cs typeface="Ysabeau" pitchFamily="50" charset="0"/>
                </a:rPr>
                <a:t>Device</a:t>
              </a:r>
              <a:endParaRPr lang="zh-CN" altLang="en-US" sz="8000" b="1" dirty="0">
                <a:solidFill>
                  <a:schemeClr val="tx1"/>
                </a:solidFill>
                <a:latin typeface="Ysabeau" pitchFamily="50" charset="0"/>
                <a:cs typeface="Ysabeau" pitchFamily="50" charset="0"/>
              </a:endParaRP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95E3737A-AB1A-3288-8ED4-8877BD0C1F8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439004"/>
              <a:ext cx="4102662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3FE93A1-B8D6-E528-EB7A-E6ACD66BA28A}"/>
                </a:ext>
              </a:extLst>
            </p:cNvPr>
            <p:cNvSpPr txBox="1"/>
            <p:nvPr/>
          </p:nvSpPr>
          <p:spPr>
            <a:xfrm>
              <a:off x="101857" y="327352"/>
              <a:ext cx="3725699" cy="301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0.03 kg/s</a:t>
              </a:r>
              <a:endParaRPr lang="en-US" altLang="zh-CN" sz="500" dirty="0">
                <a:latin typeface="Ysabeau Infant" pitchFamily="50" charset="0"/>
                <a:ea typeface="Ysabeau Infant" pitchFamily="50" charset="0"/>
                <a:cs typeface="Ysabeau Infant" pitchFamily="50" charset="0"/>
              </a:endParaRPr>
            </a:p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sat. steam,</a:t>
              </a:r>
              <a:br>
                <a:rPr lang="en-US" altLang="zh-CN" sz="6000" dirty="0"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</a:br>
              <a:r>
                <a:rPr lang="en-US" altLang="zh-CN" sz="6000" i="1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p</a:t>
              </a:r>
              <a:r>
                <a:rPr lang="en-US" altLang="zh-CN" sz="6000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2 bar</a:t>
              </a:r>
              <a:endParaRPr lang="zh-CN" altLang="en-US" sz="6000" dirty="0">
                <a:latin typeface="Ysabeau Infant" pitchFamily="50" charset="0"/>
                <a:cs typeface="Ysabeau Infant" pitchFamily="50" charset="0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962D0D2-F4B3-D458-F43B-308E696AA60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72692"/>
              <a:ext cx="4102662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0AB47F6-D888-E6B3-25A0-13C512B07087}"/>
                </a:ext>
              </a:extLst>
            </p:cNvPr>
            <p:cNvSpPr txBox="1"/>
            <p:nvPr/>
          </p:nvSpPr>
          <p:spPr>
            <a:xfrm>
              <a:off x="258149" y="3861040"/>
              <a:ext cx="3413114" cy="301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0.3 kg/s</a:t>
              </a:r>
              <a:endParaRPr lang="en-US" altLang="zh-CN" sz="500" dirty="0">
                <a:latin typeface="Ysabeau Infant" pitchFamily="50" charset="0"/>
                <a:ea typeface="Ysabeau Infant" pitchFamily="50" charset="0"/>
                <a:cs typeface="Ysabeau Infant" pitchFamily="50" charset="0"/>
              </a:endParaRPr>
            </a:p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liq. water,</a:t>
              </a:r>
              <a:br>
                <a:rPr lang="en-US" altLang="zh-CN" sz="6000" dirty="0"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</a:br>
              <a:r>
                <a:rPr lang="en-US" altLang="zh-CN" sz="6000" i="1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θ</a:t>
              </a:r>
              <a:r>
                <a:rPr lang="en-US" altLang="zh-CN" sz="6000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20 °C</a:t>
              </a:r>
              <a:endParaRPr lang="zh-CN" altLang="en-US" sz="6000" dirty="0">
                <a:latin typeface="Ysabeau Infant" pitchFamily="50" charset="0"/>
                <a:cs typeface="Ysabeau Infant" pitchFamily="50" charset="0"/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CA85536-4E31-798A-A767-C3292EC8BE53}"/>
                </a:ext>
              </a:extLst>
            </p:cNvPr>
            <p:cNvCxnSpPr>
              <a:cxnSpLocks/>
            </p:cNvCxnSpPr>
            <p:nvPr/>
          </p:nvCxnSpPr>
          <p:spPr>
            <a:xfrm>
              <a:off x="8476424" y="5057153"/>
              <a:ext cx="3694981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2C3D05E-BBB7-3898-055F-3D87A99FE2BC}"/>
                </a:ext>
              </a:extLst>
            </p:cNvPr>
            <p:cNvSpPr txBox="1"/>
            <p:nvPr/>
          </p:nvSpPr>
          <p:spPr>
            <a:xfrm>
              <a:off x="8638927" y="5011506"/>
              <a:ext cx="31774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i="1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θ</a:t>
              </a:r>
              <a:r>
                <a:rPr lang="en-US" altLang="zh-CN" sz="6000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40 °C</a:t>
              </a:r>
              <a:endParaRPr lang="zh-CN" altLang="en-US" sz="6000" dirty="0">
                <a:latin typeface="Ysabeau Infant" pitchFamily="50" charset="0"/>
                <a:cs typeface="Ysabeau Infant" pitchFamily="50" charset="0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9008F37C-298C-15E1-8F01-BD3CF64E6B0C}"/>
                </a:ext>
              </a:extLst>
            </p:cNvPr>
            <p:cNvCxnSpPr>
              <a:cxnSpLocks/>
            </p:cNvCxnSpPr>
            <p:nvPr/>
          </p:nvCxnSpPr>
          <p:spPr>
            <a:xfrm>
              <a:off x="8476424" y="1439004"/>
              <a:ext cx="3694981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12B4D13-0513-6F28-8FE1-0F396EAEF07D}"/>
                </a:ext>
              </a:extLst>
            </p:cNvPr>
            <p:cNvSpPr txBox="1"/>
            <p:nvPr/>
          </p:nvSpPr>
          <p:spPr>
            <a:xfrm>
              <a:off x="8553167" y="327352"/>
              <a:ext cx="334899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liq. + </a:t>
              </a:r>
              <a:r>
                <a:rPr lang="en-US" altLang="zh-CN" sz="6000" dirty="0" err="1"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vap</a:t>
              </a:r>
              <a:r>
                <a:rPr lang="en-US" altLang="zh-CN" sz="6000" dirty="0"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.</a:t>
              </a:r>
            </a:p>
            <a:p>
              <a:pPr algn="ctr">
                <a:spcAft>
                  <a:spcPts val="1200"/>
                </a:spcAft>
              </a:pPr>
              <a:r>
                <a:rPr lang="en-US" altLang="zh-CN" sz="6000" i="1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p</a:t>
              </a:r>
              <a:r>
                <a:rPr lang="en-US" altLang="zh-CN" sz="6000" dirty="0"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2 bar</a:t>
              </a:r>
              <a:endParaRPr lang="zh-CN" altLang="en-US" sz="6000" dirty="0">
                <a:latin typeface="Ysabeau Infant" pitchFamily="50" charset="0"/>
                <a:cs typeface="Ysabeau Infant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99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A588C-8F65-7DEC-C35C-C68B1AA2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A423E1CA-904D-3759-D35B-E3026D710D1D}"/>
              </a:ext>
            </a:extLst>
          </p:cNvPr>
          <p:cNvGrpSpPr/>
          <p:nvPr/>
        </p:nvGrpSpPr>
        <p:grpSpPr>
          <a:xfrm>
            <a:off x="8710" y="857"/>
            <a:ext cx="12171405" cy="6549898"/>
            <a:chOff x="0" y="327352"/>
            <a:chExt cx="12171405" cy="654989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F585B10-52FC-AE22-4AFD-35861AD60868}"/>
                </a:ext>
              </a:extLst>
            </p:cNvPr>
            <p:cNvSpPr/>
            <p:nvPr/>
          </p:nvSpPr>
          <p:spPr>
            <a:xfrm>
              <a:off x="4102662" y="481476"/>
              <a:ext cx="4394357" cy="5870772"/>
            </a:xfrm>
            <a:prstGeom prst="rect">
              <a:avLst/>
            </a:prstGeom>
            <a:noFill/>
            <a:ln w="698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0" b="1" dirty="0">
                  <a:solidFill>
                    <a:schemeClr val="bg1"/>
                  </a:solidFill>
                  <a:latin typeface="Ysabeau" pitchFamily="50" charset="0"/>
                  <a:ea typeface="Ysabeau" pitchFamily="50" charset="0"/>
                  <a:cs typeface="Ysabeau" pitchFamily="50" charset="0"/>
                </a:rPr>
                <a:t>Device</a:t>
              </a:r>
              <a:endParaRPr lang="zh-CN" altLang="en-US" sz="8000" b="1" dirty="0">
                <a:solidFill>
                  <a:schemeClr val="bg1"/>
                </a:solidFill>
                <a:latin typeface="Ysabeau" pitchFamily="50" charset="0"/>
                <a:cs typeface="Ysabeau" pitchFamily="50" charset="0"/>
              </a:endParaRP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30A1B8B7-6DA9-5ACD-7835-A685175B461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439004"/>
              <a:ext cx="4102662" cy="0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707CAAD-C130-85EC-646B-56231C6C6ED6}"/>
                </a:ext>
              </a:extLst>
            </p:cNvPr>
            <p:cNvSpPr txBox="1"/>
            <p:nvPr/>
          </p:nvSpPr>
          <p:spPr>
            <a:xfrm>
              <a:off x="101857" y="327352"/>
              <a:ext cx="3725699" cy="301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0.03 kg/s</a:t>
              </a:r>
              <a:endParaRPr lang="en-US" altLang="zh-CN" sz="500" dirty="0">
                <a:solidFill>
                  <a:schemeClr val="bg1"/>
                </a:solidFill>
                <a:latin typeface="Ysabeau Infant" pitchFamily="50" charset="0"/>
                <a:ea typeface="Ysabeau Infant" pitchFamily="50" charset="0"/>
                <a:cs typeface="Ysabeau Infant" pitchFamily="50" charset="0"/>
              </a:endParaRPr>
            </a:p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solidFill>
                    <a:schemeClr val="bg1"/>
                  </a:solidFill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sat. steam,</a:t>
              </a:r>
              <a:br>
                <a:rPr lang="en-US" altLang="zh-CN" sz="6000" dirty="0">
                  <a:solidFill>
                    <a:schemeClr val="bg1"/>
                  </a:solidFill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</a:br>
              <a:r>
                <a:rPr lang="en-US" altLang="zh-CN" sz="6000" i="1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p</a:t>
              </a:r>
              <a:r>
                <a:rPr lang="en-US" altLang="zh-CN" sz="6000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2 bar</a:t>
              </a:r>
              <a:endParaRPr lang="zh-CN" altLang="en-US" sz="6000" dirty="0">
                <a:solidFill>
                  <a:schemeClr val="bg1"/>
                </a:solidFill>
                <a:latin typeface="Ysabeau Infant" pitchFamily="50" charset="0"/>
                <a:cs typeface="Ysabeau Infant" pitchFamily="50" charset="0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64396B0-BACD-6975-7F63-B2A2100680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72692"/>
              <a:ext cx="4102662" cy="0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22BC66C-AD5B-A571-DD44-B33A8AB77956}"/>
                </a:ext>
              </a:extLst>
            </p:cNvPr>
            <p:cNvSpPr txBox="1"/>
            <p:nvPr/>
          </p:nvSpPr>
          <p:spPr>
            <a:xfrm>
              <a:off x="258149" y="3861040"/>
              <a:ext cx="3413114" cy="301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0.3 kg/s</a:t>
              </a:r>
              <a:endParaRPr lang="en-US" altLang="zh-CN" sz="500" dirty="0">
                <a:solidFill>
                  <a:schemeClr val="bg1"/>
                </a:solidFill>
                <a:latin typeface="Ysabeau Infant" pitchFamily="50" charset="0"/>
                <a:ea typeface="Ysabeau Infant" pitchFamily="50" charset="0"/>
                <a:cs typeface="Ysabeau Infant" pitchFamily="50" charset="0"/>
              </a:endParaRPr>
            </a:p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solidFill>
                    <a:schemeClr val="bg1"/>
                  </a:solidFill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liq. water,</a:t>
              </a:r>
              <a:br>
                <a:rPr lang="en-US" altLang="zh-CN" sz="6000" dirty="0">
                  <a:solidFill>
                    <a:schemeClr val="bg1"/>
                  </a:solidFill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</a:br>
              <a:r>
                <a:rPr lang="en-US" altLang="zh-CN" sz="6000" i="1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θ</a:t>
              </a:r>
              <a:r>
                <a:rPr lang="en-US" altLang="zh-CN" sz="6000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20 °C</a:t>
              </a:r>
              <a:endParaRPr lang="zh-CN" altLang="en-US" sz="6000" dirty="0">
                <a:solidFill>
                  <a:schemeClr val="bg1"/>
                </a:solidFill>
                <a:latin typeface="Ysabeau Infant" pitchFamily="50" charset="0"/>
                <a:cs typeface="Ysabeau Infant" pitchFamily="50" charset="0"/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0472A95-261A-077A-C8F5-576DE12D143E}"/>
                </a:ext>
              </a:extLst>
            </p:cNvPr>
            <p:cNvCxnSpPr>
              <a:cxnSpLocks/>
            </p:cNvCxnSpPr>
            <p:nvPr/>
          </p:nvCxnSpPr>
          <p:spPr>
            <a:xfrm>
              <a:off x="8476424" y="5057153"/>
              <a:ext cx="3694981" cy="0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AE24AD0-3CA3-82D9-84E2-D5ADF1183D21}"/>
                </a:ext>
              </a:extLst>
            </p:cNvPr>
            <p:cNvSpPr txBox="1"/>
            <p:nvPr/>
          </p:nvSpPr>
          <p:spPr>
            <a:xfrm>
              <a:off x="8638927" y="5011506"/>
              <a:ext cx="31774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i="1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θ</a:t>
              </a:r>
              <a:r>
                <a:rPr lang="en-US" altLang="zh-CN" sz="6000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40 °C</a:t>
              </a:r>
              <a:endParaRPr lang="zh-CN" altLang="en-US" sz="6000" dirty="0">
                <a:solidFill>
                  <a:schemeClr val="bg1"/>
                </a:solidFill>
                <a:latin typeface="Ysabeau Infant" pitchFamily="50" charset="0"/>
                <a:cs typeface="Ysabeau Infant" pitchFamily="50" charset="0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5FEFBA9C-5621-63B2-F9C2-3570FBEA997A}"/>
                </a:ext>
              </a:extLst>
            </p:cNvPr>
            <p:cNvCxnSpPr>
              <a:cxnSpLocks/>
            </p:cNvCxnSpPr>
            <p:nvPr/>
          </p:nvCxnSpPr>
          <p:spPr>
            <a:xfrm>
              <a:off x="8476424" y="1439004"/>
              <a:ext cx="3694981" cy="0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76982A5-F5DB-59F7-A2DE-3C20C3C50428}"/>
                </a:ext>
              </a:extLst>
            </p:cNvPr>
            <p:cNvSpPr txBox="1"/>
            <p:nvPr/>
          </p:nvSpPr>
          <p:spPr>
            <a:xfrm>
              <a:off x="8553167" y="327352"/>
              <a:ext cx="334899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6000" dirty="0">
                  <a:solidFill>
                    <a:schemeClr val="bg1"/>
                  </a:solidFill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liq. + </a:t>
              </a:r>
              <a:r>
                <a:rPr lang="en-US" altLang="zh-CN" sz="6000" dirty="0" err="1">
                  <a:solidFill>
                    <a:schemeClr val="bg1"/>
                  </a:solidFill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vap</a:t>
              </a:r>
              <a:r>
                <a:rPr lang="en-US" altLang="zh-CN" sz="6000" dirty="0">
                  <a:solidFill>
                    <a:schemeClr val="bg1"/>
                  </a:solidFill>
                  <a:latin typeface="Ysabeau Office" pitchFamily="50" charset="0"/>
                  <a:ea typeface="Ysabeau Office" pitchFamily="50" charset="0"/>
                  <a:cs typeface="Ysabeau Office" pitchFamily="50" charset="0"/>
                </a:rPr>
                <a:t>.</a:t>
              </a:r>
            </a:p>
            <a:p>
              <a:pPr algn="ctr">
                <a:spcAft>
                  <a:spcPts val="1200"/>
                </a:spcAft>
              </a:pPr>
              <a:r>
                <a:rPr lang="en-US" altLang="zh-CN" sz="6000" i="1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p</a:t>
              </a:r>
              <a:r>
                <a:rPr lang="en-US" altLang="zh-CN" sz="6000" dirty="0">
                  <a:solidFill>
                    <a:schemeClr val="bg1"/>
                  </a:solidFill>
                  <a:latin typeface="Ysabeau Infant" pitchFamily="50" charset="0"/>
                  <a:ea typeface="Ysabeau Infant" pitchFamily="50" charset="0"/>
                  <a:cs typeface="Ysabeau Infant" pitchFamily="50" charset="0"/>
                </a:rPr>
                <a:t> = 2 bar</a:t>
              </a:r>
              <a:endParaRPr lang="zh-CN" altLang="en-US" sz="6000" dirty="0">
                <a:solidFill>
                  <a:schemeClr val="bg1"/>
                </a:solidFill>
                <a:latin typeface="Ysabeau Infant" pitchFamily="50" charset="0"/>
                <a:cs typeface="Ysabeau Infant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873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84</Words>
  <Application>Microsoft Office PowerPoint</Application>
  <PresentationFormat>自定义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Ysabeau</vt:lpstr>
      <vt:lpstr>Ysabeau Infant</vt:lpstr>
      <vt:lpstr>Ysabeau Office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zhg GAN</dc:creator>
  <cp:lastModifiedBy>zhg GAN</cp:lastModifiedBy>
  <cp:revision>6</cp:revision>
  <dcterms:created xsi:type="dcterms:W3CDTF">2025-10-27T01:30:15Z</dcterms:created>
  <dcterms:modified xsi:type="dcterms:W3CDTF">2025-10-29T14:51:49Z</dcterms:modified>
</cp:coreProperties>
</file>